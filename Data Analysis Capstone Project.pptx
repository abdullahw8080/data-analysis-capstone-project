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5" r:id="rId8"/>
    <p:sldId id="264" r:id="rId9"/>
    <p:sldId id="269" r:id="rId10"/>
    <p:sldId id="268" r:id="rId11"/>
    <p:sldId id="270" r:id="rId12"/>
    <p:sldId id="271" r:id="rId13"/>
    <p:sldId id="272" r:id="rId14"/>
    <p:sldId id="273" r:id="rId15"/>
    <p:sldId id="274" r:id="rId16"/>
    <p:sldId id="276" r:id="rId17"/>
    <p:sldId id="277" r:id="rId18"/>
    <p:sldId id="278" r:id="rId19"/>
    <p:sldId id="279" r:id="rId20"/>
    <p:sldId id="280" r:id="rId21"/>
    <p:sldId id="266" r:id="rId22"/>
    <p:sldId id="282" r:id="rId23"/>
  </p:sldIdLst>
  <p:sldSz cx="12192000" cy="6858000"/>
  <p:notesSz cx="6858000" cy="9144000"/>
  <p:defaultTextStyle>
    <a:defPPr algn="r" rtl="1"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706" autoAdjust="0"/>
  </p:normalViewPr>
  <p:slideViewPr>
    <p:cSldViewPr snapToGrid="0">
      <p:cViewPr>
        <p:scale>
          <a:sx n="75" d="100"/>
          <a:sy n="75" d="100"/>
        </p:scale>
        <p:origin x="902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413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44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ar-SA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algn="l" rtl="1"/>
            <a:fld id="{B51C88FC-C2B8-4B68-86C0-8CEE05D3F2D6}" type="datetime1">
              <a:rPr lang="ar-SA" smtClean="0"/>
              <a:pPr algn="l" rtl="1"/>
              <a:t>27/09/1447</a:t>
            </a:fld>
            <a:endParaRPr lang="ar-SA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2"/>
          </p:nvPr>
        </p:nvSpPr>
        <p:spPr>
          <a:xfrm>
            <a:off x="38844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ar-SA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algn="l" rtl="1"/>
            <a:fld id="{1604A0D4-B89B-4ADD-AF9E-38636B40EE4E}" type="slidenum">
              <a:rPr lang="ar-SA" smtClean="0"/>
              <a:pPr algn="l" rtl="1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44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ar-SA" noProof="0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rtl="1">
              <a:defRPr sz="1200"/>
            </a:lvl1pPr>
          </a:lstStyle>
          <a:p>
            <a:fld id="{7516675F-DC07-4DDB-84F0-E973E0B59B83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ar-SA" noProof="0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44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ar-SA" noProof="0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rtl="1">
              <a:defRPr sz="1200"/>
            </a:lvl1pPr>
          </a:lstStyle>
          <a:p>
            <a:fld id="{82869989-EB00-4EE7-BCB5-25BDC5BB29F8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ال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المجموعة 4"/>
          <p:cNvGrpSpPr/>
          <p:nvPr userDrawn="1"/>
        </p:nvGrpSpPr>
        <p:grpSpPr bwMode="hidden">
          <a:xfrm flipH="1"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موصل مستقيم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موصل مستقيم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موصل مستقيم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موصل مستقيم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موصل المستقيم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موصل مستقيم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موصل مستقيم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رابط مستقيم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موصل مستقيم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موصل مستقيم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موصل مستقيم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موصل مستقيم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موصل مستقيم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موصل مستقيم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رابط مستقيم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المجموعة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رابط مستقيم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موصل مستقيم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رابط مستقيم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رابط مستقيم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موصل مستقيم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مجموعة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موصل مستقيم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رابط مستقيم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رابط مستقيم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رابط مستقيم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رابط مستقيم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رابط مستقيم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رابط مستقيم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رابط مستقيم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موصل مستقيم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موصل مستقيم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المجموعة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رابط مستقيم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رابط مستقيم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موصل مستقيم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رابط مستقيم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رابط مستقيم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مجموعة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رابط مستقيم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رابط مستقيم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رابط مستقيم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رابط مستقيم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رابط مستقيم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رابط مستقيم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رابط مستقيم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رابط مستقيم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موصل مستقيم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موصل مستقيم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العنوان 1"/>
          <p:cNvSpPr>
            <a:spLocks noGrp="1"/>
          </p:cNvSpPr>
          <p:nvPr>
            <p:ph type="ctrTitle"/>
          </p:nvPr>
        </p:nvSpPr>
        <p:spPr>
          <a:xfrm flipH="1">
            <a:off x="1293845" y="1909346"/>
            <a:ext cx="9604310" cy="3383280"/>
          </a:xfrm>
        </p:spPr>
        <p:txBody>
          <a:bodyPr rtlCol="1" anchor="b">
            <a:normAutofit/>
          </a:bodyPr>
          <a:lstStyle>
            <a:lvl1pPr algn="r" rtl="1">
              <a:lnSpc>
                <a:spcPct val="100000"/>
              </a:lnSpc>
              <a:defRPr sz="8000" cap="none" baseline="0">
                <a:solidFill>
                  <a:schemeClr val="tx1"/>
                </a:solidFill>
                <a:cs typeface="+mj-cs"/>
              </a:defRPr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 flipH="1">
            <a:off x="1293845" y="5432564"/>
            <a:ext cx="9604310" cy="457200"/>
          </a:xfrm>
        </p:spPr>
        <p:txBody>
          <a:bodyPr rtlCol="1">
            <a:normAutofit/>
          </a:bodyPr>
          <a:lstStyle>
            <a:lvl1pPr marL="0" indent="0" algn="r" rtl="1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  <a:cs typeface="+mj-cs"/>
              </a:defRPr>
            </a:lvl1pPr>
            <a:lvl2pPr marL="457200" indent="0" algn="ctr" rtl="1">
              <a:buNone/>
              <a:defRPr sz="2000"/>
            </a:lvl2pPr>
            <a:lvl3pPr marL="914400" indent="0" algn="ctr" rtl="1">
              <a:buNone/>
              <a:defRPr sz="1800"/>
            </a:lvl3pPr>
            <a:lvl4pPr marL="1371600" indent="0" algn="ctr" rtl="1">
              <a:buNone/>
              <a:defRPr sz="1600"/>
            </a:lvl4pPr>
            <a:lvl5pPr marL="1828800" indent="0" algn="ctr" rtl="1">
              <a:buNone/>
              <a:defRPr sz="1600"/>
            </a:lvl5pPr>
            <a:lvl6pPr marL="2286000" indent="0" algn="ctr" rtl="1">
              <a:buNone/>
              <a:defRPr sz="1600"/>
            </a:lvl6pPr>
            <a:lvl7pPr marL="2743200" indent="0" algn="ctr" rtl="1">
              <a:buNone/>
              <a:defRPr sz="1600"/>
            </a:lvl7pPr>
            <a:lvl8pPr marL="3200400" indent="0" algn="ctr" rtl="1">
              <a:buNone/>
              <a:defRPr sz="1600"/>
            </a:lvl8pPr>
            <a:lvl9pPr marL="3657600" indent="0" algn="ctr" rtl="1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SA" dirty="0"/>
          </a:p>
        </p:txBody>
      </p:sp>
      <p:cxnSp>
        <p:nvCxnSpPr>
          <p:cNvPr id="58" name="موصل مستقيم 57"/>
          <p:cNvCxnSpPr>
            <a:cxnSpLocks/>
          </p:cNvCxnSpPr>
          <p:nvPr userDrawn="1"/>
        </p:nvCxnSpPr>
        <p:spPr>
          <a:xfrm flipH="1"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العنوان و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1295400" y="1981201"/>
            <a:ext cx="9601200" cy="3809999"/>
          </a:xfrm>
        </p:spPr>
        <p:txBody>
          <a:bodyPr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553260B2-D180-4EBA-BF07-FB4A587DDD0A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المجموعة 6"/>
          <p:cNvGrpSpPr/>
          <p:nvPr userDrawn="1"/>
        </p:nvGrpSpPr>
        <p:grpSpPr bwMode="hidden">
          <a:xfrm flipH="1"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موصل مستقيم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موصل مستقيم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موصل مستقيم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موصل المستقيم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موصل مستقيم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موصل مستقيم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رابط مستقيم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موصل مستقيم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موصل مستقيم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موصل مستقيم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موصل مستقيم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موصل مستقيم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موصل مستقيم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رابط مستقيم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موصل مستقيم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المجموعة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موصل مستقيم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رابط مستقيم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رابط مستقيم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رابط مستقيم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رابط مستقيم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المجموعة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موصل مستقيم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رابط مستقيم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رابط مستقيم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رابط مستقيم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رابط مستقيم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رابط مستقيم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رابط مستقيم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موصل مستقيم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موصل مستقيم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موصل مستقيم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المجموعة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موصل مستقيم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موصل مستقيم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رابط مستقيم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رابط مستقيم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موصل مستقيم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المجموعة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موصل مستقيم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رابط مستقيم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رابط مستقيم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رابط مستقيم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رابط مستقيم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موصل مستقيم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رابط مستقيم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موصل مستقيم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موصل مستقيم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رابط مستقيم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2541573"/>
            <a:ext cx="9601200" cy="2743200"/>
          </a:xfrm>
        </p:spPr>
        <p:txBody>
          <a:bodyPr rtlCol="1" anchor="b">
            <a:normAutofit/>
          </a:bodyPr>
          <a:lstStyle>
            <a:lvl1pPr algn="r" rtl="1"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295400" y="5431536"/>
            <a:ext cx="9601200" cy="457200"/>
          </a:xfrm>
        </p:spPr>
        <p:txBody>
          <a:bodyPr rtlCol="1">
            <a:normAutofit/>
          </a:bodyPr>
          <a:lstStyle>
            <a:lvl1pPr marL="0" indent="0" algn="r" rtl="1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 algn="r" rtl="1">
              <a:buNone/>
              <a:defRPr sz="2000"/>
            </a:lvl2pPr>
            <a:lvl3pPr marL="914400" indent="0" algn="r" rtl="1">
              <a:buNone/>
              <a:defRPr sz="1800"/>
            </a:lvl3pPr>
            <a:lvl4pPr marL="1371600" indent="0" algn="r" rtl="1">
              <a:buNone/>
              <a:defRPr sz="1600"/>
            </a:lvl4pPr>
            <a:lvl5pPr marL="1828800" indent="0" algn="r" rtl="1">
              <a:buNone/>
              <a:defRPr sz="1600"/>
            </a:lvl5pPr>
            <a:lvl6pPr marL="2286000" indent="0" algn="r" rtl="1">
              <a:buNone/>
              <a:defRPr sz="1600"/>
            </a:lvl6pPr>
            <a:lvl7pPr marL="2743200" indent="0" algn="r" rtl="1">
              <a:buNone/>
              <a:defRPr sz="1600"/>
            </a:lvl7pPr>
            <a:lvl8pPr marL="3200400" indent="0" algn="r" rtl="1">
              <a:buNone/>
              <a:defRPr sz="1600"/>
            </a:lvl8pPr>
            <a:lvl9pPr marL="3657600" indent="0" algn="r" rtl="1">
              <a:buNone/>
              <a:defRPr sz="16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</p:txBody>
      </p:sp>
      <p:cxnSp>
        <p:nvCxnSpPr>
          <p:cNvPr id="58" name="موصل مستقيم 57"/>
          <p:cNvCxnSpPr>
            <a:cxnSpLocks/>
          </p:cNvCxnSpPr>
          <p:nvPr userDrawn="1"/>
        </p:nvCxnSpPr>
        <p:spPr>
          <a:xfrm flipH="1"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 flipH="1">
            <a:off x="6324600" y="1981199"/>
            <a:ext cx="4572000" cy="3810001"/>
          </a:xfrm>
        </p:spPr>
        <p:txBody>
          <a:bodyPr rtlCol="1">
            <a:normAutofit/>
          </a:bodyPr>
          <a:lstStyle>
            <a:lvl1pPr algn="r" rtl="1">
              <a:defRPr sz="2000"/>
            </a:lvl1pPr>
            <a:lvl2pPr algn="r" rtl="1">
              <a:defRPr sz="1800"/>
            </a:lvl2pPr>
            <a:lvl3pPr algn="r" rtl="1">
              <a:defRPr sz="1600"/>
            </a:lvl3pPr>
            <a:lvl4pPr algn="r" rtl="1">
              <a:defRPr sz="1400"/>
            </a:lvl4pPr>
            <a:lvl5pPr algn="r" rtl="1">
              <a:defRPr sz="1400"/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1295400" y="1981199"/>
            <a:ext cx="4572000" cy="3810001"/>
          </a:xfrm>
        </p:spPr>
        <p:txBody>
          <a:bodyPr rtlCol="1">
            <a:normAutofit/>
          </a:bodyPr>
          <a:lstStyle>
            <a:lvl1pPr algn="r" rtl="1">
              <a:defRPr sz="2000"/>
            </a:lvl1pPr>
            <a:lvl2pPr algn="r" rtl="1">
              <a:defRPr sz="1800"/>
            </a:lvl2pPr>
            <a:lvl3pPr algn="r" rtl="1">
              <a:defRPr sz="1600"/>
            </a:lvl3pPr>
            <a:lvl4pPr algn="r" rtl="1">
              <a:defRPr sz="1400"/>
            </a:lvl4pPr>
            <a:lvl5pPr algn="r" rtl="1">
              <a:defRPr sz="1400"/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2231A680-8429-4981-B99E-6E5CCA2B3D5F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6324600" y="1818322"/>
            <a:ext cx="4572000" cy="641350"/>
          </a:xfrm>
        </p:spPr>
        <p:txBody>
          <a:bodyPr rtlCol="1" anchor="ctr">
            <a:normAutofit/>
          </a:bodyPr>
          <a:lstStyle>
            <a:lvl1pPr marL="0" indent="0" algn="r" rtl="1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 flipH="1">
            <a:off x="6324600" y="2503713"/>
            <a:ext cx="4572000" cy="3287487"/>
          </a:xfrm>
        </p:spPr>
        <p:txBody>
          <a:bodyPr rtlCol="1">
            <a:normAutofit/>
          </a:bodyPr>
          <a:lstStyle>
            <a:lvl1pPr algn="r" rtl="1">
              <a:defRPr sz="2000"/>
            </a:lvl1pPr>
            <a:lvl2pPr algn="r" rtl="1">
              <a:defRPr sz="1800"/>
            </a:lvl2pPr>
            <a:lvl3pPr algn="r" rtl="1">
              <a:defRPr sz="1600"/>
            </a:lvl3pPr>
            <a:lvl4pPr algn="r" rtl="1">
              <a:defRPr sz="1400"/>
            </a:lvl4pPr>
            <a:lvl5pPr algn="r" rtl="1">
              <a:defRPr sz="1400"/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 flipH="1">
            <a:off x="1295400" y="1818322"/>
            <a:ext cx="4572000" cy="641350"/>
          </a:xfrm>
        </p:spPr>
        <p:txBody>
          <a:bodyPr rtlCol="1" anchor="ctr">
            <a:normAutofit/>
          </a:bodyPr>
          <a:lstStyle>
            <a:lvl1pPr marL="0" indent="0" algn="r" rtl="1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 flipH="1">
            <a:off x="1295400" y="2503713"/>
            <a:ext cx="4572000" cy="3287487"/>
          </a:xfrm>
        </p:spPr>
        <p:txBody>
          <a:bodyPr rtlCol="1">
            <a:normAutofit/>
          </a:bodyPr>
          <a:lstStyle>
            <a:lvl1pPr algn="r" rtl="1">
              <a:defRPr sz="2000"/>
            </a:lvl1pPr>
            <a:lvl2pPr algn="r" rtl="1">
              <a:defRPr sz="1800"/>
            </a:lvl2pPr>
            <a:lvl3pPr algn="r" rtl="1">
              <a:defRPr sz="1600"/>
            </a:lvl3pPr>
            <a:lvl4pPr algn="r" rtl="1">
              <a:defRPr sz="1400"/>
            </a:lvl4pPr>
            <a:lvl5pPr algn="r" rtl="1">
              <a:defRPr sz="1400"/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C8B2362E-9518-4BFC-AE65-EC7DE104DC5D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ال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8251A12C-5027-4E0A-B3C0-9CD894CCBC69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المجموعة 160"/>
          <p:cNvGrpSpPr/>
          <p:nvPr userDrawn="1"/>
        </p:nvGrpSpPr>
        <p:grpSpPr bwMode="hidden">
          <a:xfrm flipH="1"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موصل مستقيم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موصل مستقيم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موصل مستقيم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موصل مستقيم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موصل مستقيم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موصل مستقيم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موصل مستقيم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موصل مستقيم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موصل مستقيم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موصل مستقيم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موصل مستقيم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موصل مستقيم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موصل مستقيم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موصل مستقيم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موصل مستقيم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موصل مستقيم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المجموعة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موصل مستقيم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رابط مستقيم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رابط مستقيم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رابط مستقيم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موصل مستقيم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المجموعة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موصل مستقيم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موصل مستقيم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موصل مستقيم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رابط مستقيم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موصل مستقيم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موصل مستقيم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رابط مستقيم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موصل مستقيم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موصل مستقيم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موصل مستقيم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المجموعة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موصل مستقيم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موصل مستقيم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رابط مستقيم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موصل مستقيم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موصل مستقيم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المجموعة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رابط مستقيم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موصل مستقيم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موصل مستقيم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موصل مستقيم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موصل مستقيم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موصل مستقيم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موصل مستقيم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موصل مستقيم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موصل مستقيم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موصل مستقيم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عنصر نائب للتذييل 212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212" name="عنصر نائب للتاريخ 211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60FEAC81-253B-4960-B6BB-C73862BFA571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214" name="عنصر نائب لرقم الشريحة 213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المجموعة 8"/>
          <p:cNvGrpSpPr/>
          <p:nvPr userDrawn="1"/>
        </p:nvGrpSpPr>
        <p:grpSpPr bwMode="hidden">
          <a:xfrm flipH="1"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موصل مستقيم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موصل المستقيم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موصل مستقيم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موصل مستقيم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رابط مستقيم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موصل مستقيم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موصل مستقيم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موصل مستقيم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موصل مستقيم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موصل مستقيم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موصل مستقيم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رابط مستقيم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موصل مستقيم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موصل مستقيم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رابط مستقيم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المجموعة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موصل مستقيم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رابط مستقيم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رابط مستقيم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رابط مستقيم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رابط مستقيم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مجموعة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موصل مستقيم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رابط مستقيم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رابط مستقيم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موصل مستقيم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موصل مستقيم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موصل مستقيم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موصل مستقيم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رابط مستقيم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رابط مستقيم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موصل مستقيم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مجموعة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رابط مستقيم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رابط مستقيم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رابط مستقيم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رابط مستقيم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موصل مستقيم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مجموعة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رابط مستقيم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رابط مستقيم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رابط مستقيم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موصل مستقيم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رابط مستقيم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موصل مستقيم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موصل مستقيم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رابط مستقيم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رابط مستقيم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رابط مستقيم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مستطيل 6"/>
          <p:cNvSpPr/>
          <p:nvPr userDrawn="1"/>
        </p:nvSpPr>
        <p:spPr>
          <a:xfrm flipH="1">
            <a:off x="487680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cs typeface="+mj-cs"/>
            </a:endParaRPr>
          </a:p>
        </p:txBody>
      </p: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621248" y="571500"/>
            <a:ext cx="3657600" cy="2197100"/>
          </a:xfrm>
        </p:spPr>
        <p:txBody>
          <a:bodyPr rtlCol="1" anchor="b">
            <a:normAutofit/>
          </a:bodyPr>
          <a:lstStyle>
            <a:lvl1pPr algn="r" rtl="1">
              <a:defRPr sz="2600">
                <a:solidFill>
                  <a:schemeClr val="bg1"/>
                </a:solidFill>
                <a:cs typeface="+mj-cs"/>
              </a:defRPr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 flipH="1">
            <a:off x="5430883" y="571500"/>
            <a:ext cx="6217920" cy="5715000"/>
          </a:xfrm>
        </p:spPr>
        <p:txBody>
          <a:bodyPr rtlCol="1">
            <a:normAutofit/>
          </a:bodyPr>
          <a:lstStyle>
            <a:lvl1pPr algn="r" rtl="1">
              <a:defRPr sz="2000">
                <a:cs typeface="+mj-cs"/>
              </a:defRPr>
            </a:lvl1pPr>
            <a:lvl2pPr algn="r" rtl="1">
              <a:defRPr sz="1800">
                <a:cs typeface="+mj-cs"/>
              </a:defRPr>
            </a:lvl2pPr>
            <a:lvl3pPr algn="r" rtl="1">
              <a:defRPr sz="1600">
                <a:cs typeface="+mj-cs"/>
              </a:defRPr>
            </a:lvl3pPr>
            <a:lvl4pPr algn="r" rtl="1">
              <a:defRPr sz="1400">
                <a:cs typeface="+mj-cs"/>
              </a:defRPr>
            </a:lvl4pPr>
            <a:lvl5pPr algn="r" rtl="1">
              <a:defRPr sz="1400">
                <a:cs typeface="+mj-cs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621248" y="2995012"/>
            <a:ext cx="3657600" cy="2285950"/>
          </a:xfrm>
        </p:spPr>
        <p:txBody>
          <a:bodyPr rtlCol="1">
            <a:normAutofit/>
          </a:bodyPr>
          <a:lstStyle>
            <a:lvl1pPr marL="0" indent="0" algn="r" rtl="1">
              <a:spcBef>
                <a:spcPts val="1200"/>
              </a:spcBef>
              <a:buNone/>
              <a:defRPr sz="1600">
                <a:solidFill>
                  <a:schemeClr val="bg1"/>
                </a:solidFill>
                <a:cs typeface="+mj-cs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</p:txBody>
      </p:sp>
      <p:cxnSp>
        <p:nvCxnSpPr>
          <p:cNvPr id="60" name="رابط مستقيم 59"/>
          <p:cNvCxnSpPr>
            <a:cxnSpLocks/>
          </p:cNvCxnSpPr>
          <p:nvPr userDrawn="1"/>
        </p:nvCxnSpPr>
        <p:spPr>
          <a:xfrm flipH="1">
            <a:off x="60960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>
                <a:cs typeface="+mj-cs"/>
              </a:defRPr>
            </a:lvl1pPr>
          </a:lstStyle>
          <a:p>
            <a:r>
              <a:rPr lang="ar-SA"/>
              <a:t>إضافة تذييل</a:t>
            </a:r>
            <a:endParaRPr lang="ar-SA" dirty="0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>
                <a:solidFill>
                  <a:schemeClr val="bg1"/>
                </a:solidFill>
                <a:cs typeface="+mj-cs"/>
              </a:defRPr>
            </a:lvl1pPr>
          </a:lstStyle>
          <a:p>
            <a:fld id="{77E8DDBB-AC64-4611-8A1B-A5665600CC63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8" name="عنصر نائب لرقم الشريحة 7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>
                <a:solidFill>
                  <a:schemeClr val="bg1"/>
                </a:solidFill>
                <a:cs typeface="+mj-cs"/>
              </a:defRPr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المجموعة 7"/>
          <p:cNvGrpSpPr/>
          <p:nvPr/>
        </p:nvGrpSpPr>
        <p:grpSpPr bwMode="hidden">
          <a:xfrm flipH="1"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موصل مستقيم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موصل مستقيم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موصل المستقيم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موصل مستقيم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موصل مستقيم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رابط مستقيم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موصل مستقيم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موصل مستقيم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موصل مستقيم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موصل مستقيم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موصل مستقيم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موصل مستقيم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رابط مستقيم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موصل مستقيم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موصل مستقيم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المجموعة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رابط مستقيم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رابط مستقيم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رابط مستقيم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رابط مستقيم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رابط مستقيم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المجموعة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موصل مستقيم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رابط مستقيم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رابط مستقيم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رابط مستقيم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موصل مستقيم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رابط مستقيم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موصل مستقيم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موصل مستقيم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رابط مستقيم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موصل مستقيم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المجموعة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رابط مستقيم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رابط مستقيم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رابط مستقيم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رابط مستقيم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رابط مستقيم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مجموعة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رابط مستقيم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رابط مستقيم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رابط مستقيم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رابط مستقيم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موصل مستقيم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رابط مستقيم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موصل مستقيم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موصل مستقيم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رابط مستقيم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موصل مستقيم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مستطيل 59"/>
          <p:cNvSpPr/>
          <p:nvPr/>
        </p:nvSpPr>
        <p:spPr>
          <a:xfrm flipH="1">
            <a:off x="487680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ar-SA" noProof="0" dirty="0">
              <a:cs typeface="+mj-cs"/>
            </a:endParaRPr>
          </a:p>
        </p:txBody>
      </p:sp>
      <p:cxnSp>
        <p:nvCxnSpPr>
          <p:cNvPr id="59" name="موصل مستقيم 58"/>
          <p:cNvCxnSpPr>
            <a:cxnSpLocks/>
          </p:cNvCxnSpPr>
          <p:nvPr/>
        </p:nvCxnSpPr>
        <p:spPr>
          <a:xfrm flipH="1">
            <a:off x="609600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624840" y="576072"/>
            <a:ext cx="3657600" cy="2194560"/>
          </a:xfrm>
        </p:spPr>
        <p:txBody>
          <a:bodyPr rtlCol="1" anchor="b">
            <a:normAutofit/>
          </a:bodyPr>
          <a:lstStyle>
            <a:lvl1pPr algn="r" rtl="1">
              <a:defRPr sz="2600">
                <a:solidFill>
                  <a:schemeClr val="bg1"/>
                </a:solidFill>
                <a:cs typeface="+mj-cs"/>
              </a:defRPr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عنصر نائب للصورة 2" descr="عنصر نائب فارغ لإضافة صورة. انقر فوق العنصر النائب وقم بتحديد الصورة التي ترغب بإضافتها."/>
          <p:cNvSpPr>
            <a:spLocks noGrp="1"/>
          </p:cNvSpPr>
          <p:nvPr>
            <p:ph type="pic" idx="1"/>
          </p:nvPr>
        </p:nvSpPr>
        <p:spPr>
          <a:xfrm flipH="1">
            <a:off x="4872388" y="-159"/>
            <a:ext cx="7315200" cy="6858000"/>
          </a:xfrm>
        </p:spPr>
        <p:txBody>
          <a:bodyPr tIns="457200" rtlCol="1">
            <a:normAutofit/>
          </a:bodyPr>
          <a:lstStyle>
            <a:lvl1pPr marL="0" indent="0" algn="ctr" rtl="1">
              <a:buNone/>
              <a:defRPr sz="2000">
                <a:cs typeface="+mj-cs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rtl="1"/>
            <a:r>
              <a:rPr lang="ar-SA" noProof="0"/>
              <a:t>انقر فوق الأيقونة لإضافة صورة</a:t>
            </a:r>
            <a:endParaRPr lang="ar-SA" noProof="0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 flipH="1">
            <a:off x="624840" y="2999232"/>
            <a:ext cx="3657600" cy="2286000"/>
          </a:xfrm>
        </p:spPr>
        <p:txBody>
          <a:bodyPr rtlCol="1"/>
          <a:lstStyle>
            <a:lvl1pPr marL="0" indent="0" algn="r" rtl="1">
              <a:spcBef>
                <a:spcPts val="1200"/>
              </a:spcBef>
              <a:buNone/>
              <a:defRPr sz="1600">
                <a:solidFill>
                  <a:schemeClr val="bg1"/>
                </a:solidFill>
                <a:cs typeface="+mj-cs"/>
              </a:defRPr>
            </a:lvl1pPr>
            <a:lvl2pPr marL="457200" indent="0" algn="r" rtl="1">
              <a:buNone/>
              <a:defRPr sz="1400"/>
            </a:lvl2pPr>
            <a:lvl3pPr marL="914400" indent="0" algn="r" rtl="1">
              <a:buNone/>
              <a:defRPr sz="1200"/>
            </a:lvl3pPr>
            <a:lvl4pPr marL="1371600" indent="0" algn="r" rtl="1">
              <a:buNone/>
              <a:defRPr sz="1000"/>
            </a:lvl4pPr>
            <a:lvl5pPr marL="1828800" indent="0" algn="r" rtl="1">
              <a:buNone/>
              <a:defRPr sz="1000"/>
            </a:lvl5pPr>
            <a:lvl6pPr marL="2286000" indent="0" algn="r" rtl="1">
              <a:buNone/>
              <a:defRPr sz="1000"/>
            </a:lvl6pPr>
            <a:lvl7pPr marL="2743200" indent="0" algn="r" rtl="1">
              <a:buNone/>
              <a:defRPr sz="1000"/>
            </a:lvl7pPr>
            <a:lvl8pPr marL="3200400" indent="0" algn="r" rtl="1">
              <a:buNone/>
              <a:defRPr sz="1000"/>
            </a:lvl8pPr>
            <a:lvl9pPr marL="3657600" indent="0" algn="r" rtl="1">
              <a:buNone/>
              <a:defRPr sz="1000"/>
            </a:lvl9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العنوان والنص ال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flipH="1" flipV="1">
            <a:off x="1295400" y="1981201"/>
            <a:ext cx="9601200" cy="3809999"/>
          </a:xfrm>
        </p:spPr>
        <p:txBody>
          <a:bodyPr vert="eaVert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38BD5061-95E8-4DDA-B691-F712C9265872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العنوان العمودي والن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العنوان العمودي 1"/>
          <p:cNvSpPr>
            <a:spLocks noGrp="1"/>
          </p:cNvSpPr>
          <p:nvPr>
            <p:ph type="title" orient="vert"/>
          </p:nvPr>
        </p:nvSpPr>
        <p:spPr>
          <a:xfrm flipH="1" flipV="1">
            <a:off x="1295400" y="489856"/>
            <a:ext cx="1687286" cy="5301343"/>
          </a:xfrm>
        </p:spPr>
        <p:txBody>
          <a:bodyPr vert="eaVert" rtlCol="1"/>
          <a:lstStyle>
            <a:lvl1pPr algn="r" rtl="1">
              <a:defRPr/>
            </a:lvl1pPr>
          </a:lstStyle>
          <a:p>
            <a:pPr rtl="1"/>
            <a:r>
              <a:rPr lang="ar-SA" noProof="0"/>
              <a:t>انقر لتحرير نمط عنوان الشكل الرئيسي</a:t>
            </a:r>
            <a:endParaRPr lang="ar-SA" noProof="0" dirty="0"/>
          </a:p>
        </p:txBody>
      </p:sp>
      <p:sp>
        <p:nvSpPr>
          <p:cNvPr id="3" name="العنصر النائب لنص عمودي 2"/>
          <p:cNvSpPr>
            <a:spLocks noGrp="1"/>
          </p:cNvSpPr>
          <p:nvPr>
            <p:ph type="body" orient="vert" idx="1"/>
          </p:nvPr>
        </p:nvSpPr>
        <p:spPr>
          <a:xfrm flipH="1" flipV="1">
            <a:off x="3309257" y="489856"/>
            <a:ext cx="7587344" cy="5301343"/>
          </a:xfrm>
        </p:spPr>
        <p:txBody>
          <a:bodyPr vert="eaVert" rtlCol="1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rtl="1"/>
            <a:r>
              <a:rPr lang="ar-SA" noProof="0"/>
              <a:t>انقر لتحرير أنماط نص الشكل الرئيسي</a:t>
            </a:r>
          </a:p>
          <a:p>
            <a:pPr lvl="1" rtl="1"/>
            <a:r>
              <a:rPr lang="ar-SA" noProof="0"/>
              <a:t>المستوى الثاني</a:t>
            </a:r>
          </a:p>
          <a:p>
            <a:pPr lvl="2" rtl="1"/>
            <a:r>
              <a:rPr lang="ar-SA" noProof="0"/>
              <a:t>المستوى الثالث</a:t>
            </a:r>
          </a:p>
          <a:p>
            <a:pPr lvl="3" rtl="1"/>
            <a:r>
              <a:rPr lang="ar-SA" noProof="0"/>
              <a:t>المستوى الرابع</a:t>
            </a:r>
          </a:p>
          <a:p>
            <a:pPr lvl="4" rtl="1"/>
            <a:r>
              <a:rPr lang="ar-SA" noProof="0"/>
              <a:t>المستوى الخامس</a:t>
            </a:r>
            <a:endParaRPr lang="ar-SA" noProof="0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>
          <a:xfrm flipH="1">
            <a:off x="5454369" y="6289679"/>
            <a:ext cx="6128030" cy="222436"/>
          </a:xfr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-SA" noProof="0" dirty="0"/>
              <a:t>إضافة تذييل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>
          <a:xfrm flipH="1">
            <a:off x="1932012" y="6289679"/>
            <a:ext cx="965946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C64B31AF-3AD7-4835-A047-0238F2C91975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>
          <a:xfrm flipH="1">
            <a:off x="607807" y="6289679"/>
            <a:ext cx="918882" cy="222436"/>
          </a:xfrm>
        </p:spPr>
        <p:txBody>
          <a:bodyPr rtlCol="1"/>
          <a:lstStyle>
            <a:lvl1pPr algn="l" rtl="1">
              <a:defRPr/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المجموعة 95"/>
          <p:cNvGrpSpPr/>
          <p:nvPr userDrawn="1"/>
        </p:nvGrpSpPr>
        <p:grpSpPr bwMode="hidden">
          <a:xfrm flipH="1"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موصل مستقيم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رابط مستقيم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موصل مستقيم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موصل مستقيم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موصل مستقيم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موصل مستقيم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موصل مستقيم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موصل مستقيم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موصل مستقيم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موصل مستقيم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موصل مستقيم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موصل مستقيم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موصل مستقيم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موصل مستقيم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رابط مستقيم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رابط مستقيم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المجموعة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رابط مستقيم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رابط مستقيم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رابط مستقيم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موصل مستقيم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موصل مستقيم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المجموعة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موصل مستقيم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موصل مستقيم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موصل مستقيم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موصل مستقيم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رابط مستقيم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موصل مستقيم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موصل مستقيم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رابط مستقيم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موصل مستقيم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رابط مستقيم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المجموعة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رابط مستقيم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رابط مستقيم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رابط مستقيم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رابط مستقيم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رابط مستقيم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المجموعة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موصل مستقيم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رابط مستقيم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رابط مستقيم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رابط مستقيم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موصل مستقيم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موصل مستقيم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موصل مستقيم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موصل مستقيم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موصل مستقيم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رابط مستقيم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 flipH="1"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1" anchor="b">
            <a:normAutofit/>
          </a:bodyPr>
          <a:lstStyle/>
          <a:p>
            <a:pPr rtl="1"/>
            <a:r>
              <a:rPr lang="ar-SA" dirty="0"/>
              <a:t>انقر لتحرير نمط العنوان الرئيسي</a:t>
            </a:r>
            <a:endParaRPr lang="ar-SA" noProof="0" dirty="0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 flipH="1"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 rtl="1"/>
            <a:r>
              <a:rPr lang="ar-SA" noProof="0" dirty="0"/>
              <a:t>انقر لتحرير أنماط النص الرئيسي</a:t>
            </a:r>
          </a:p>
          <a:p>
            <a:pPr lvl="1" rtl="1"/>
            <a:r>
              <a:rPr lang="ar-SA" noProof="0" dirty="0"/>
              <a:t>المستوى الثاني</a:t>
            </a:r>
          </a:p>
          <a:p>
            <a:pPr lvl="2" rtl="1"/>
            <a:r>
              <a:rPr lang="ar-SA" noProof="0" dirty="0"/>
              <a:t>المستوى الثالث</a:t>
            </a:r>
          </a:p>
          <a:p>
            <a:pPr lvl="3" rtl="1"/>
            <a:r>
              <a:rPr lang="ar-SA" noProof="0" dirty="0"/>
              <a:t>المستوى الرابع</a:t>
            </a:r>
          </a:p>
          <a:p>
            <a:pPr lvl="4" rtl="1"/>
            <a:r>
              <a:rPr lang="ar-SA" noProof="0" dirty="0"/>
              <a:t>المستوى الخامس</a:t>
            </a:r>
          </a:p>
        </p:txBody>
      </p:sp>
      <p:cxnSp>
        <p:nvCxnSpPr>
          <p:cNvPr id="148" name="رابط مستقيم 147"/>
          <p:cNvCxnSpPr>
            <a:cxnSpLocks/>
          </p:cNvCxnSpPr>
          <p:nvPr userDrawn="1"/>
        </p:nvCxnSpPr>
        <p:spPr>
          <a:xfrm flipH="1"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 flipH="1">
            <a:off x="5454369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 rtl="1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cs typeface="+mj-cs"/>
              </a:defRPr>
            </a:lvl1pPr>
          </a:lstStyle>
          <a:p>
            <a:r>
              <a:rPr lang="ar-SA"/>
              <a:t>إضافة تذييل</a:t>
            </a:r>
            <a:endParaRPr lang="ar-SA" dirty="0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 flipH="1">
            <a:off x="193201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cs typeface="+mj-cs"/>
              </a:defRPr>
            </a:lvl1pPr>
          </a:lstStyle>
          <a:p>
            <a:fld id="{63C4D736-3463-4CA4-BF1A-868C551DEE27}" type="datetime1">
              <a:rPr lang="ar-SA" smtClean="0"/>
              <a:pPr/>
              <a:t>27/09/1447</a:t>
            </a:fld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 flipH="1">
            <a:off x="607807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 rtl="1">
              <a:defRPr sz="1100">
                <a:solidFill>
                  <a:schemeClr val="tx1">
                    <a:lumMod val="90000"/>
                    <a:lumOff val="10000"/>
                  </a:schemeClr>
                </a:solidFill>
                <a:cs typeface="+mj-cs"/>
              </a:defRPr>
            </a:lvl1pPr>
          </a:lstStyle>
          <a:p>
            <a:fld id="{E31375A4-56A4-47D6-9801-1991572033F7}" type="slidenum">
              <a:rPr lang="ar-SA" smtClean="0"/>
              <a:pPr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j-cs"/>
        </a:defRPr>
      </a:lvl1pPr>
      <a:lvl2pPr marL="457200" indent="-182880" algn="r" defTabSz="914400" rtl="1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j-cs"/>
        </a:defRPr>
      </a:lvl2pPr>
      <a:lvl3pPr marL="685800" indent="-179388" algn="r" defTabSz="914400" rtl="1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j-cs"/>
        </a:defRPr>
      </a:lvl3pPr>
      <a:lvl4pPr marL="914400" indent="-182880" algn="r" defTabSz="914400" rtl="1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j-cs"/>
        </a:defRPr>
      </a:lvl4pPr>
      <a:lvl5pPr marL="1143000" indent="-179388" algn="r" defTabSz="914400" rtl="1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j-cs"/>
        </a:defRPr>
      </a:lvl5pPr>
      <a:lvl6pPr marL="1371600" indent="-182880" algn="r" defTabSz="914400" rtl="1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r" defTabSz="914400" rtl="1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r" defTabSz="914400" rtl="1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r" defTabSz="914400" rtl="1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B9C847D-6012-A639-C14B-32DDF354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397000" y="1058213"/>
            <a:ext cx="9601200" cy="1207467"/>
          </a:xfrm>
        </p:spPr>
        <p:txBody>
          <a:bodyPr>
            <a:noAutofit/>
          </a:bodyPr>
          <a:lstStyle/>
          <a:p>
            <a:pPr algn="l"/>
            <a:r>
              <a:rPr lang="en-US" sz="4800" dirty="0"/>
              <a:t>Data Analyst Professional Findings Report</a:t>
            </a:r>
            <a:endParaRPr lang="ar-SA" sz="4800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82C06D5C-0DCC-BFE0-0ACC-888A652D6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143000" y="2450133"/>
            <a:ext cx="9931400" cy="2284427"/>
          </a:xfrm>
        </p:spPr>
        <p:txBody>
          <a:bodyPr>
            <a:norm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b="1" dirty="0"/>
              <a:t>Project Title:</a:t>
            </a:r>
            <a:r>
              <a:rPr lang="en-US" dirty="0"/>
              <a:t> Analysis of Technology and Developer Trends (Stack Overflow 2023)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b="1" dirty="0"/>
              <a:t>Prepared by:</a:t>
            </a:r>
            <a:r>
              <a:rPr lang="en-US" dirty="0"/>
              <a:t> Abdullah Mohammed Abdulrahman Al-Sharif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b="1" dirty="0"/>
              <a:t>Course:</a:t>
            </a:r>
            <a:r>
              <a:rPr lang="en-US" dirty="0"/>
              <a:t> IBM Data Analytics Professional Certificate (Coursera) 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b="1" dirty="0"/>
              <a:t>Date:</a:t>
            </a:r>
            <a:r>
              <a:rPr lang="en-US" dirty="0"/>
              <a:t> March 15, 2026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91035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27F6D5-8E99-D26B-7A28-0C8F1262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1: Title Slide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562331-3502-8A9C-1B9A-AFBE572563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2090172"/>
            <a:ext cx="88267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2023.</a:t>
            </a:r>
            <a:endParaRPr kumimoji="0" lang="en-US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Abdullah Mohammed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Abdulrahman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Al-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Sharif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March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15, 2026.</a:t>
            </a:r>
            <a:endParaRPr kumimoji="0" lang="en-US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Affiliation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IBM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Specialization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796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6C8870F-360E-A8C4-88B1-AC6EF0C6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2: Outline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ED1227-F024-B3BC-37CE-558AF322E9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1981262"/>
            <a:ext cx="76384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Wrangling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r-SA" altLang="ar-SA" sz="1800" dirty="0">
                <a:latin typeface="Arial" panose="020B0604020202020204" pitchFamily="34" charset="0"/>
              </a:rPr>
              <a:t>(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Compensation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ar-SA" altLang="ar-SA" sz="1800" dirty="0">
                <a:latin typeface="Arial" panose="020B0604020202020204" pitchFamily="34" charset="0"/>
              </a:rPr>
              <a:t>(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Appendix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345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D166B83-9771-23D6-794B-654180FC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3: Executive Summary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0F60ED-17B4-77D2-EE67-1BD048750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1901044"/>
            <a:ext cx="968815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Dominance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bedrock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toward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high-performance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desired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2024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45%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already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their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productivity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(25 -34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r-SA" altLang="ar-SA" sz="1800" dirty="0">
                <a:latin typeface="Arial" panose="020B0604020202020204" pitchFamily="34" charset="0"/>
              </a:rPr>
              <a:t>)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preference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868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482912B-EC07-8812-55CB-00F2A1E4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4: Introduction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F90F3-EE3D-08CC-7EE0-D4870E648C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2090454"/>
            <a:ext cx="97419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stakeholders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CTOs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Aspiring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Proposition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gap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5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7F2CE50-7102-A778-2DC3-36661BB1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5: Methodology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2A5DCF-438D-E453-0F8E-FD9132F126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1690958"/>
            <a:ext cx="968815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Overflow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2023 (90,000+)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respondent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Imputation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integrity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Cross-Referencing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against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job-postings.xlsx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file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ensure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supply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skills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matches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market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demand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ar-SA" altLang="ar-SA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CEB54-CC0C-8E0C-C4F2-EB77FCC2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Slide 6 &amp; 7: Results - Programming Language Trends</a:t>
            </a: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DF5A4DC-D22A-3D01-E0EA-E07C29FD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Future Tech Trends Top 10 Languages Respondents Want to Work With.png</a:t>
            </a:r>
            <a:endParaRPr lang="ar-SA" dirty="0"/>
          </a:p>
        </p:txBody>
      </p:sp>
      <p:pic>
        <p:nvPicPr>
          <p:cNvPr id="10" name="عنصر نائب للمحتوى 9">
            <a:extLst>
              <a:ext uri="{FF2B5EF4-FFF2-40B4-BE49-F238E27FC236}">
                <a16:creationId xmlns:a16="http://schemas.microsoft.com/office/drawing/2014/main" id="{DE7C9F95-A59A-29A7-9E2B-D9A4077557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4600" y="2632362"/>
            <a:ext cx="4572000" cy="3029964"/>
          </a:xfrm>
          <a:prstGeom prst="rect">
            <a:avLst/>
          </a:prstGeom>
        </p:spPr>
      </p:pic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BAC6E58-E617-4AF2-E992-6399E4C06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Top 10 Most Popular Programming Languages</a:t>
            </a:r>
            <a:endParaRPr lang="ar-SA" dirty="0"/>
          </a:p>
        </p:txBody>
      </p:sp>
      <p:pic>
        <p:nvPicPr>
          <p:cNvPr id="8" name="عنصر نائب للمحتوى 7">
            <a:extLst>
              <a:ext uri="{FF2B5EF4-FFF2-40B4-BE49-F238E27FC236}">
                <a16:creationId xmlns:a16="http://schemas.microsoft.com/office/drawing/2014/main" id="{A2528C65-0C66-D859-4696-AACB0AD0201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295400" y="2629796"/>
            <a:ext cx="4572000" cy="303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7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FFAA99E-DAF2-D3CB-DCE9-719FA990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6 &amp; 7: Results - Programming Language Trends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0A8194-E1A6-8BCE-67B4-4B6C43C37A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2254986"/>
            <a:ext cx="960120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ar-SA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Usage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14,943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HTML/CSS,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Desire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surge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interest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toward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system-level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Implication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938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E65BED9-B7AE-DF56-1FEE-24AB04B7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8 &amp; 9: Results - Database Trends</a:t>
            </a:r>
            <a:endParaRPr lang="ar-SA" dirty="0"/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00DB4B3B-23BC-3F42-E695-7D4150019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796527"/>
            <a:ext cx="9838764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7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2AC472E-42EA-1354-2964-35D5B4AE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8 &amp; 9: Results - Database Trends</a:t>
            </a:r>
            <a:endParaRPr lang="ar-SA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809B87-0E7A-689F-D564-6B2F08AEC77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 flipH="1">
            <a:off x="1295400" y="1824425"/>
            <a:ext cx="9601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ar-SA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winner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desired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(12,000+)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respondents</a:t>
            </a:r>
            <a:r>
              <a:rPr kumimoji="0" lang="en-US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74320" lvl="1" indent="0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decline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Supabase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toward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ecosystems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986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0BB38BC-35DA-3C13-E433-BC8CA7AA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10: Job Postings Visualization</a:t>
            </a:r>
            <a:endParaRPr lang="ar-SA" dirty="0"/>
          </a:p>
        </p:txBody>
      </p:sp>
      <p:pic>
        <p:nvPicPr>
          <p:cNvPr id="7" name="عنصر نائب للمحتوى 6">
            <a:extLst>
              <a:ext uri="{FF2B5EF4-FFF2-40B4-BE49-F238E27FC236}">
                <a16:creationId xmlns:a16="http://schemas.microsoft.com/office/drawing/2014/main" id="{9D7A9DE4-141E-F445-08EC-1542726C97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0880" y="1815585"/>
            <a:ext cx="5176520" cy="386341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C50CF56-733D-F89D-979F-9442F7BB2B0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 flipH="1">
            <a:off x="6324602" y="2190199"/>
            <a:ext cx="4572000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job-postings.xlsx</a:t>
            </a:r>
            <a:r>
              <a:rPr kumimoji="0" lang="ar-SA" altLang="ar-S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ar-SA" altLang="ar-SA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Sorted</a:t>
            </a:r>
            <a:r>
              <a:rPr kumimoji="0" lang="ar-SA" altLang="ar-S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ar-SA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Descending</a:t>
            </a:r>
            <a:r>
              <a:rPr kumimoji="0" lang="ar-SA" altLang="ar-SA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ar-SA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Full-stack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perfectly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usage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/SQL.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463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29F33D5-8C1D-09F8-47CC-CABEB8E8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11: Innovative Insights - Compensation, AI, and Industry</a:t>
            </a: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77B28EB-8293-2035-3395-0EECBB093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visualize the top 5 tools developers are currently using for AI development</a:t>
            </a:r>
            <a:endParaRPr lang="ar-SA" dirty="0"/>
          </a:p>
        </p:txBody>
      </p:sp>
      <p:pic>
        <p:nvPicPr>
          <p:cNvPr id="14" name="عنصر نائب للمحتوى 13">
            <a:extLst>
              <a:ext uri="{FF2B5EF4-FFF2-40B4-BE49-F238E27FC236}">
                <a16:creationId xmlns:a16="http://schemas.microsoft.com/office/drawing/2014/main" id="{CBAE5929-8310-A2C5-8502-DDD484382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4600" y="2602832"/>
            <a:ext cx="4572000" cy="3089023"/>
          </a:xfrm>
          <a:prstGeom prst="rect">
            <a:avLst/>
          </a:prstGeom>
        </p:spPr>
      </p:pic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422A5EB0-A624-470A-B0B7-9740BA16D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Median Annual Compensation by Years of Experience</a:t>
            </a:r>
            <a:endParaRPr lang="ar-SA" dirty="0"/>
          </a:p>
        </p:txBody>
      </p:sp>
      <p:pic>
        <p:nvPicPr>
          <p:cNvPr id="10" name="عنصر نائب للمحتوى 9">
            <a:extLst>
              <a:ext uri="{FF2B5EF4-FFF2-40B4-BE49-F238E27FC236}">
                <a16:creationId xmlns:a16="http://schemas.microsoft.com/office/drawing/2014/main" id="{A9F7FA0B-0777-0C37-792A-D9F59D493FE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1295400" y="2503713"/>
            <a:ext cx="4572000" cy="32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3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EC6C8E1-AB47-B72F-8414-A14F0580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11: Innovative Insights - Compensation, AI, and Industry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41ED97-E482-7399-D973-2A7B2A5F19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57300" y="2022625"/>
            <a:ext cx="9677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Compensation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steep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45.5%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usage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Writing</a:t>
            </a: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revolutionary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master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assisted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likely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productive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salaries</a:t>
            </a:r>
            <a:r>
              <a:rPr kumimoji="0" lang="ar-SA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05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C84FC8D-44A4-CA67-2ABB-E795DCA6C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12, 13, 14: Looker Studio Dashboards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7941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6B6B274-2161-C43E-21C8-FD52B185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12</a:t>
            </a:r>
            <a:endParaRPr lang="ar-SA" dirty="0"/>
          </a:p>
        </p:txBody>
      </p:sp>
      <p:pic>
        <p:nvPicPr>
          <p:cNvPr id="6" name="عنصر نائب للصورة 5">
            <a:extLst>
              <a:ext uri="{FF2B5EF4-FFF2-40B4-BE49-F238E27FC236}">
                <a16:creationId xmlns:a16="http://schemas.microsoft.com/office/drawing/2014/main" id="{4CB486BD-0E5D-B0BE-7C7F-09240EEAFD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93" r="-787"/>
          <a:stretch>
            <a:fillRect/>
          </a:stretch>
        </p:blipFill>
        <p:spPr>
          <a:xfrm>
            <a:off x="4907280" y="182880"/>
            <a:ext cx="8026400" cy="6847840"/>
          </a:xfrm>
          <a:prstGeom prst="rect">
            <a:avLst/>
          </a:prstGeom>
        </p:spPr>
      </p:pic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DA83E7C9-04D3-6954-33AE-D00385A17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/>
              <a:t>Shows AWS and React dominance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57635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AD50-9D11-9ADC-B88C-54BBE8E0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EE98AA0-8332-1863-AFD4-6E1A5C14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13</a:t>
            </a:r>
            <a:endParaRPr lang="ar-SA" dirty="0"/>
          </a:p>
        </p:txBody>
      </p:sp>
      <p:pic>
        <p:nvPicPr>
          <p:cNvPr id="6" name="عنصر نائب للصورة 5">
            <a:extLst>
              <a:ext uri="{FF2B5EF4-FFF2-40B4-BE49-F238E27FC236}">
                <a16:creationId xmlns:a16="http://schemas.microsoft.com/office/drawing/2014/main" id="{BB5A77CF-7AE2-B5E3-EFF5-19D3209939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479" t="297" r="1039"/>
          <a:stretch>
            <a:fillRect/>
          </a:stretch>
        </p:blipFill>
        <p:spPr>
          <a:xfrm>
            <a:off x="4826000" y="0"/>
            <a:ext cx="7366000" cy="682752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97867F8B-C7F1-F8A9-2E6F-395D141E6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/>
              <a:t>Focuses on Cloud-native tools and Next.js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33581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21BF-C744-EA02-1A7D-5E64E3BE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581CFF8-2C6F-6F37-ACA1-045A7A18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14</a:t>
            </a:r>
            <a:endParaRPr lang="ar-SA" dirty="0"/>
          </a:p>
        </p:txBody>
      </p:sp>
      <p:pic>
        <p:nvPicPr>
          <p:cNvPr id="6" name="عنصر نائب للصورة 5">
            <a:extLst>
              <a:ext uri="{FF2B5EF4-FFF2-40B4-BE49-F238E27FC236}">
                <a16:creationId xmlns:a16="http://schemas.microsoft.com/office/drawing/2014/main" id="{0CBCFF23-DCC6-6A01-1005-04753DE78F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1548" b="-1944"/>
          <a:stretch>
            <a:fillRect/>
          </a:stretch>
        </p:blipFill>
        <p:spPr>
          <a:xfrm>
            <a:off x="4907280" y="-101600"/>
            <a:ext cx="7269771" cy="6959600"/>
          </a:xfrm>
          <a:prstGeom prst="rect">
            <a:avLst/>
          </a:prstGeom>
        </p:spPr>
      </p:pic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452074D-D064-F70B-B654-35D7860E9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/>
              <a:t>Shows the majority of </a:t>
            </a:r>
            <a:r>
              <a:rPr lang="en-US" sz="2400" dirty="0" err="1"/>
              <a:t>devs</a:t>
            </a:r>
            <a:r>
              <a:rPr lang="en-US" sz="2400" dirty="0"/>
              <a:t> are 25-34 years old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67370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81E417C-5F2B-0C36-310C-A6120AEB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15: Dashboard Insights Summary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F000BAD-D317-904B-37E8-6DAE5925BBE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295400" y="1981201"/>
            <a:ext cx="9601200" cy="1910079"/>
          </a:xfrm>
        </p:spPr>
        <p:txBody>
          <a:bodyPr>
            <a:normAutofit/>
          </a:bodyPr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en-US" sz="2400" dirty="0"/>
              <a:t>Integrating the dashboards reveals that while the US leads in developer volume, emerging economies are adopting Cloud tools (AWS/Azure) at a faster rate. The younger demographic is also more likely to experiment with "Desired" technologies like Rust.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990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EE59CFC-7DAD-A1F0-ABF4-0949CAE0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16 &amp; 17: Overall Findings &amp; Conclusion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2C08D6-6AF7-5CAF-004D-977002AA4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2166652"/>
            <a:ext cx="960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(JS/SQL)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emerging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ones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/AI)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ar-SA" altLang="ar-SA" sz="2400" dirty="0"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1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9916-913F-3FF1-14C5-3B63EE9E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373AA-2F2F-C5CE-31CA-7659EBC1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16 &amp; 17: Overall Findings &amp; Conclusion</a:t>
            </a: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04A162-E0CD-8D6B-358E-C3064C876E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2302473"/>
            <a:ext cx="96012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ar-SA" altLang="ar-SA" sz="2400" b="1" dirty="0" err="1">
                <a:latin typeface="Arial" panose="020B0604020202020204" pitchFamily="34" charset="0"/>
              </a:rPr>
              <a:t>Key</a:t>
            </a:r>
            <a:r>
              <a:rPr lang="ar-SA" altLang="ar-SA" sz="2400" b="1" dirty="0">
                <a:latin typeface="Arial" panose="020B0604020202020204" pitchFamily="34" charset="0"/>
              </a:rPr>
              <a:t> </a:t>
            </a:r>
            <a:r>
              <a:rPr lang="ar-SA" altLang="ar-SA" sz="2400" b="1" dirty="0" err="1">
                <a:latin typeface="Arial" panose="020B0604020202020204" pitchFamily="34" charset="0"/>
              </a:rPr>
              <a:t>Recommendations</a:t>
            </a:r>
            <a:r>
              <a:rPr lang="ar-SA" altLang="ar-SA" sz="2400" b="1" dirty="0">
                <a:latin typeface="Arial" panose="020B0604020202020204" pitchFamily="34" charset="0"/>
              </a:rPr>
              <a:t>:</a:t>
            </a:r>
            <a:endParaRPr lang="ar-SA" altLang="ar-SA" sz="2400" dirty="0">
              <a:latin typeface="Arial" panose="020B0604020202020204" pitchFamily="34" charset="0"/>
            </a:endParaRPr>
          </a:p>
          <a:p>
            <a:pPr marL="731520" lvl="1" indent="-457200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ar-SA" altLang="ar-SA" sz="2200" dirty="0" err="1">
                <a:latin typeface="Arial" panose="020B0604020202020204" pitchFamily="34" charset="0"/>
              </a:rPr>
              <a:t>Master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b="1" dirty="0" err="1">
                <a:latin typeface="Arial" panose="020B0604020202020204" pitchFamily="34" charset="0"/>
              </a:rPr>
              <a:t>PostgreSQL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as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it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is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the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undisputed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industry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standard</a:t>
            </a:r>
            <a:r>
              <a:rPr lang="ar-SA" altLang="ar-SA" sz="2200" dirty="0">
                <a:latin typeface="Arial" panose="020B0604020202020204" pitchFamily="34" charset="0"/>
              </a:rPr>
              <a:t>.</a:t>
            </a:r>
          </a:p>
          <a:p>
            <a:pPr marL="731520" lvl="1" indent="-457200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ar-SA" altLang="ar-SA" sz="2200" dirty="0" err="1">
                <a:latin typeface="Arial" panose="020B0604020202020204" pitchFamily="34" charset="0"/>
              </a:rPr>
              <a:t>Integrate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b="1" dirty="0">
                <a:latin typeface="Arial" panose="020B0604020202020204" pitchFamily="34" charset="0"/>
              </a:rPr>
              <a:t>AI </a:t>
            </a:r>
            <a:r>
              <a:rPr lang="ar-SA" altLang="ar-SA" sz="2200" b="1" dirty="0" err="1">
                <a:latin typeface="Arial" panose="020B0604020202020204" pitchFamily="34" charset="0"/>
              </a:rPr>
              <a:t>Tools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into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the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development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workflow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to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stay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relevant</a:t>
            </a:r>
            <a:r>
              <a:rPr lang="ar-SA" altLang="ar-SA" sz="2200" dirty="0">
                <a:latin typeface="Arial" panose="020B0604020202020204" pitchFamily="34" charset="0"/>
              </a:rPr>
              <a:t>.</a:t>
            </a:r>
          </a:p>
          <a:p>
            <a:pPr marL="731520" lvl="1" indent="-457200"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ar-SA" altLang="ar-SA" sz="2200" dirty="0" err="1">
                <a:latin typeface="Arial" panose="020B0604020202020204" pitchFamily="34" charset="0"/>
              </a:rPr>
              <a:t>Adopt</a:t>
            </a:r>
            <a:r>
              <a:rPr lang="ar-SA" altLang="ar-SA" sz="2200" dirty="0">
                <a:latin typeface="Arial" panose="020B0604020202020204" pitchFamily="34" charset="0"/>
              </a:rPr>
              <a:t> a </a:t>
            </a:r>
            <a:r>
              <a:rPr lang="ar-SA" altLang="ar-SA" sz="2200" b="1" dirty="0" err="1">
                <a:latin typeface="Arial" panose="020B0604020202020204" pitchFamily="34" charset="0"/>
              </a:rPr>
              <a:t>Hybrid</a:t>
            </a:r>
            <a:r>
              <a:rPr lang="ar-SA" altLang="ar-SA" sz="2200" b="1" dirty="0">
                <a:latin typeface="Arial" panose="020B0604020202020204" pitchFamily="34" charset="0"/>
              </a:rPr>
              <a:t>/</a:t>
            </a:r>
            <a:r>
              <a:rPr lang="ar-SA" altLang="ar-SA" sz="2200" b="1" dirty="0" err="1">
                <a:latin typeface="Arial" panose="020B0604020202020204" pitchFamily="34" charset="0"/>
              </a:rPr>
              <a:t>Remote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mindset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to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attract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top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global</a:t>
            </a:r>
            <a:r>
              <a:rPr lang="ar-SA" altLang="ar-SA" sz="2200" dirty="0">
                <a:latin typeface="Arial" panose="020B0604020202020204" pitchFamily="34" charset="0"/>
              </a:rPr>
              <a:t> </a:t>
            </a:r>
            <a:r>
              <a:rPr lang="ar-SA" altLang="ar-SA" sz="2200" dirty="0" err="1">
                <a:latin typeface="Arial" panose="020B0604020202020204" pitchFamily="34" charset="0"/>
              </a:rPr>
              <a:t>talent</a:t>
            </a:r>
            <a:r>
              <a:rPr kumimoji="0" lang="ar-SA" altLang="ar-SA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0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DA24A92-1F0B-F8D9-7F92-957AACB1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65480" y="495607"/>
            <a:ext cx="9601200" cy="1142385"/>
          </a:xfrm>
        </p:spPr>
        <p:txBody>
          <a:bodyPr/>
          <a:lstStyle/>
          <a:p>
            <a:pPr algn="l"/>
            <a:r>
              <a:rPr lang="en-US" dirty="0"/>
              <a:t>Slide 18: Appendix (Additional Insights)</a:t>
            </a: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3C2FF31-B69B-B6E4-1466-084953A5C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4648200" y="1862363"/>
            <a:ext cx="3215641" cy="64135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Industry Distribution</a:t>
            </a:r>
            <a:endParaRPr lang="ar-SA" dirty="0"/>
          </a:p>
        </p:txBody>
      </p:sp>
      <p:pic>
        <p:nvPicPr>
          <p:cNvPr id="10" name="عنصر نائب للمحتوى 9">
            <a:extLst>
              <a:ext uri="{FF2B5EF4-FFF2-40B4-BE49-F238E27FC236}">
                <a16:creationId xmlns:a16="http://schemas.microsoft.com/office/drawing/2014/main" id="{31E49496-DA57-9A28-F31F-5953F0B9D2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2717463"/>
            <a:ext cx="3336925" cy="2775625"/>
          </a:xfrm>
          <a:prstGeom prst="rect">
            <a:avLst/>
          </a:prstGeom>
        </p:spPr>
      </p:pic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C1DA1DE-1D83-8B99-4819-EA63B283F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flipH="1">
            <a:off x="574040" y="1862363"/>
            <a:ext cx="3215640" cy="641350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Distribution of Remote Work Preferences</a:t>
            </a:r>
            <a:endParaRPr lang="ar-SA" dirty="0"/>
          </a:p>
        </p:txBody>
      </p:sp>
      <p:pic>
        <p:nvPicPr>
          <p:cNvPr id="8" name="عنصر نائب للمحتوى 7">
            <a:extLst>
              <a:ext uri="{FF2B5EF4-FFF2-40B4-BE49-F238E27FC236}">
                <a16:creationId xmlns:a16="http://schemas.microsoft.com/office/drawing/2014/main" id="{CDD12018-4B51-B68A-350E-856250C4519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74040" y="2703251"/>
            <a:ext cx="3632200" cy="2888409"/>
          </a:xfrm>
          <a:prstGeom prst="rect">
            <a:avLst/>
          </a:prstGeom>
        </p:spPr>
      </p:pic>
      <p:pic>
        <p:nvPicPr>
          <p:cNvPr id="11" name="عنصر نائب للمحتوى 9">
            <a:extLst>
              <a:ext uri="{FF2B5EF4-FFF2-40B4-BE49-F238E27FC236}">
                <a16:creationId xmlns:a16="http://schemas.microsoft.com/office/drawing/2014/main" id="{1E7F25A2-3FF9-1C25-6C70-75C319A35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27085" y="2703251"/>
            <a:ext cx="3336925" cy="2966029"/>
          </a:xfrm>
          <a:prstGeom prst="rect">
            <a:avLst/>
          </a:prstGeom>
        </p:spPr>
      </p:pic>
      <p:sp>
        <p:nvSpPr>
          <p:cNvPr id="12" name="عنصر نائب للنص 2">
            <a:extLst>
              <a:ext uri="{FF2B5EF4-FFF2-40B4-BE49-F238E27FC236}">
                <a16:creationId xmlns:a16="http://schemas.microsoft.com/office/drawing/2014/main" id="{0F54795B-D696-129A-F0DA-7C9E6A68AB5F}"/>
              </a:ext>
            </a:extLst>
          </p:cNvPr>
          <p:cNvSpPr txBox="1">
            <a:spLocks/>
          </p:cNvSpPr>
          <p:nvPr/>
        </p:nvSpPr>
        <p:spPr>
          <a:xfrm flipH="1">
            <a:off x="8402319" y="1862363"/>
            <a:ext cx="3215641" cy="64135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marL="0" indent="0" algn="r" defTabSz="914400" rtl="1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/>
                </a:solidFill>
                <a:latin typeface="+mn-lt"/>
                <a:ea typeface="+mn-ea"/>
                <a:cs typeface="+mj-cs"/>
              </a:defRPr>
            </a:lvl1pPr>
            <a:lvl2pPr marL="457200" indent="0" algn="r" defTabSz="914400" rtl="1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2pPr>
            <a:lvl3pPr marL="914400" indent="0" algn="r" defTabSz="914400" rtl="1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3pPr>
            <a:lvl4pPr marL="1371600" indent="0" algn="r" defTabSz="914400" rtl="1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4pPr>
            <a:lvl5pPr marL="1828800" indent="0" algn="r" defTabSz="914400" rtl="1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5pPr>
            <a:lvl6pPr marL="2286000" indent="0" algn="r" defTabSz="914400" rtl="1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r" defTabSz="914400" rtl="1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r" defTabSz="914400" rtl="1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r" defTabSz="914400" rtl="1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Distribution of Yearly Compensation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7249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FC8D34C-7EE6-AFBB-C189-DC083E49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Slide 18: Appendix (Additional Insights)</a:t>
            </a:r>
            <a:br>
              <a:rPr lang="en-US" dirty="0"/>
            </a:br>
            <a:endParaRPr lang="ar-S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86B066-73D5-7E18-DB38-F87251D11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1295400" y="1646238"/>
            <a:ext cx="97180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Preferences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Office-only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FinTech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sectors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compensation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those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15-20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466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شبكة معين 16×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16_TF03031015" id="{08841590-1055-4C05-86CD-206160381043}" vid="{8722F83C-97AA-4FBC-AE54-B3588632E026}"/>
    </a:ext>
  </a:extLst>
</a:theme>
</file>

<file path=ppt/theme/theme2.xml><?xml version="1.0" encoding="utf-8"?>
<a:theme xmlns:a="http://schemas.openxmlformats.org/drawingml/2006/main" name="نسق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نسق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عرض تقديمي لشبكة معينات للأعمال (شاشة عريضة)</Template>
  <TotalTime>226</TotalTime>
  <Words>993</Words>
  <Application>Microsoft Office PowerPoint</Application>
  <PresentationFormat>شاشة عريضة</PresentationFormat>
  <Paragraphs>110</Paragraphs>
  <Slides>22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5" baseType="lpstr">
      <vt:lpstr>Arial Unicode MS</vt:lpstr>
      <vt:lpstr>Arial</vt:lpstr>
      <vt:lpstr>شبكة معين 16×9</vt:lpstr>
      <vt:lpstr>Data Analyst Professional Findings Report</vt:lpstr>
      <vt:lpstr>Slide 1: Title Slide</vt:lpstr>
      <vt:lpstr>Slide 2: Outline</vt:lpstr>
      <vt:lpstr>Slide 3: Executive Summary</vt:lpstr>
      <vt:lpstr>Slide 4: Introduction</vt:lpstr>
      <vt:lpstr>Slide 5: Methodology</vt:lpstr>
      <vt:lpstr>Slide 6 &amp; 7: Results - Programming Language Trends</vt:lpstr>
      <vt:lpstr>Slide 6 &amp; 7: Results - Programming Language Trends</vt:lpstr>
      <vt:lpstr>Slide 8 &amp; 9: Results - Database Trends</vt:lpstr>
      <vt:lpstr>Slide 8 &amp; 9: Results - Database Trends</vt:lpstr>
      <vt:lpstr>Slide 10: Job Postings Visualization</vt:lpstr>
      <vt:lpstr>Slide 11: Innovative Insights - Compensation, AI, and Industry</vt:lpstr>
      <vt:lpstr>Slide 11: Innovative Insights - Compensation, AI, and Industry</vt:lpstr>
      <vt:lpstr>Slide 12, 13, 14: Looker Studio Dashboards</vt:lpstr>
      <vt:lpstr>Slide 12</vt:lpstr>
      <vt:lpstr>Slide 13</vt:lpstr>
      <vt:lpstr>Slide 14</vt:lpstr>
      <vt:lpstr>Slide 15: Dashboard Insights Summary</vt:lpstr>
      <vt:lpstr>Slide 16 &amp; 17: Overall Findings &amp; Conclusion</vt:lpstr>
      <vt:lpstr>Slide 16 &amp; 17: Overall Findings &amp; Conclusion</vt:lpstr>
      <vt:lpstr>Slide 18: Appendix (Additional Insights)</vt:lpstr>
      <vt:lpstr>Slide 18: Appendix (Additional Insights)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ِAbdullah Al_shreef</dc:creator>
  <cp:lastModifiedBy>ِAbdullah Al_shreef</cp:lastModifiedBy>
  <cp:revision>2</cp:revision>
  <dcterms:created xsi:type="dcterms:W3CDTF">2026-03-14T20:27:45Z</dcterms:created>
  <dcterms:modified xsi:type="dcterms:W3CDTF">2026-03-15T02:03:32Z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